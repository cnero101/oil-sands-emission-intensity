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6324F"/>
          </a:solidFill>
          <a:ln/>
        </p:spPr>
      </p:sp>
      <p:pic>
        <p:nvPicPr>
          <p:cNvPr id="3" name="Image 0" descr="/home/claude/pptx_build/fig1_emissions_by_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840480" cy="2331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55448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Facility-Level Greenhouse Gas Emissions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in Alberta's Oil Sands Using Machine Learning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37490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E4EE"/>
                </a:solidFill>
              </a:rPr>
              <a:t>Paul Moynihan, Ifeanyi Njoku, Anmol Sharma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4160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</a:rPr>
              <a:t>DATA 606  |  Final Project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60350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A33D"/>
                </a:solidFill>
              </a:rPr>
              <a:t>Revised: corrected for target leakage — see slide 15 for methodology note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Project Objective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Develop machine learning models to predict emissions intensity (tonnes CO2e/m³) at Alberta oil sands facilities, using only information that would legitimately be available for prediction — enabling better environmental compliance and emissions-reduction strategies.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Dataset Overview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Facility-year records: 344 (2011–2023, after removing non-operational records)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Target variable: Emission Intensity (tonnes CO2e/m³)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Range: 0.184 – 7.433  |  Average: 0.622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Features: production volume, extraction technology, subsector, product, facility production history, time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Key Results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5146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Best model: Random Forest — Test R² = 0.496, RMSE = 0.741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Top predictors: Log-transformed production (0.355) and raw production (0.259)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6 models compared: Linear Regression, Elastic Net, Random Forest, Gradient Boosting, SVR, Neural Network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Production scale explains ~61% of feature importance — the dominant driver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709160"/>
            <a:ext cx="11247120" cy="1508760"/>
          </a:xfrm>
          <a:prstGeom prst="rect">
            <a:avLst/>
          </a:prstGeom>
          <a:solidFill>
            <a:srgbClr val="FBEFE3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8463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Note on this revision: 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An earlier draft reported R² = 0.681 using features (Cogen_Adjusted_Emission, Log_Emission) mathematically entangled with the target, and a separate draft reported R² = 0.058 using raw Facility identity as a predictor, which caused tree models to memorize rather than generalize. This deck uses a corrected, leakage-free feature set throughout.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Context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Industrial facilities must monitor and reduce emissions intensity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Current emissions tracking is reactive, not predictive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High variability across facilities and extraction technologies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Need early indicators of high-intensity operations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Business Impact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9776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Regulatory compliance (carbon pricing, emissions caps)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Cost optimization (reduce emissions tax burden)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Operational efficiency improvements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Environmental sustainability goals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4937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Our Approach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2880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Predictive modeling using only information available before operations complete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Careful feature engineering that avoids leaking the target into the inputs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Comparison of six ML algorithms on interpretability, accuracy, and generalization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Feature importance analysis to guide emissions-reduction strategy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566160" cy="10972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 Emissions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Intensity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Develop accurate facility-level predictions of GHG emissions intensity using only legitimate operational and technological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1463040"/>
            <a:ext cx="3566160" cy="1097280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6002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Compare ML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7889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Evaluate six machine learning approaches across interpretability, accuracy, and generalization performance.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1463040"/>
            <a:ext cx="356616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16002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Identify Key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Drivers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7889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Determine which operational factors most significantly and defensibly impact emissions intensity.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Analysis: Key Insights</a:t>
            </a:r>
            <a:endParaRPr lang="en-US" sz="2800" dirty="0"/>
          </a:p>
        </p:txBody>
      </p:sp>
      <p:pic>
        <p:nvPicPr>
          <p:cNvPr id="3" name="Image 0" descr="/home/claude/pptx_build/eda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51560"/>
            <a:ext cx="10241280" cy="5532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Analysis: Feature Correlations</a:t>
            </a:r>
            <a:endParaRPr lang="en-US" sz="2800" dirty="0"/>
          </a:p>
        </p:txBody>
      </p:sp>
      <p:pic>
        <p:nvPicPr>
          <p:cNvPr id="3" name="Image 0" descr="/home/claude/pptx_build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5760720" cy="5285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What the correlations show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69164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Production and Log_Production are negatively correlated with intensity — larger facilities tend to be more efficient (economies of scale)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Facility_Avg_Production behaves similarly — a facility's production history is informative even without using its identity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Note: Cogen_Adjusted_Emission and Log_Emission are excluded from the model feature set, since they are mathematically entangled with the target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Variables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Production volume (m³)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Total (cogen-adjusted) emissions — used only to compute the target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Subsector, extraction technology, product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Facility and year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Leakage-Free Feature Engineering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Log transformations of production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Production-scale indicators (median / 75th percentile)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Encoded categorical variables (subsector, technology, product)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Facility-level historical aggregates (avg. production, years operating) — not facility identity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Interaction terms (technology × product, subsector × time)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Machine Learning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301752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3017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00416" y="3438144"/>
            <a:ext cx="201168" cy="164592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1" name="Shape 9"/>
          <p:cNvSpPr/>
          <p:nvPr/>
        </p:nvSpPr>
        <p:spPr>
          <a:xfrm>
            <a:off x="8119872" y="301752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19872" y="3017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10928" y="3438144"/>
            <a:ext cx="201168" cy="164592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4" name="Shape 12"/>
          <p:cNvSpPr/>
          <p:nvPr/>
        </p:nvSpPr>
        <p:spPr>
          <a:xfrm>
            <a:off x="9930384" y="301752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30384" y="3017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Train/Test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Split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52628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452628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0416" y="4946904"/>
            <a:ext cx="201168" cy="164592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452628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19872" y="452628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10928" y="4946904"/>
            <a:ext cx="201168" cy="164592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22" name="Shape 20"/>
          <p:cNvSpPr/>
          <p:nvPr/>
        </p:nvSpPr>
        <p:spPr>
          <a:xfrm>
            <a:off x="9930384" y="4526280"/>
            <a:ext cx="1572768" cy="1005840"/>
          </a:xfrm>
          <a:prstGeom prst="roundRect">
            <a:avLst>
              <a:gd name="adj" fmla="val 5455"/>
            </a:avLst>
          </a:prstGeom>
          <a:solidFill>
            <a:srgbClr val="1F4E7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30384" y="452628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13448" y="4078224"/>
            <a:ext cx="164592" cy="393192"/>
          </a:xfrm>
          <a:prstGeom prst="downArrow">
            <a:avLst/>
          </a:prstGeom>
          <a:solidFill>
            <a:srgbClr val="59595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Compared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7863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9786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1. Linear Regression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197864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Baseline linear model.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595360" y="1197864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✓ Fast, interpretable, assumes linear relationships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11247120" cy="7863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9397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2. Elastic Net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093976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Combined L1/L2 regularization for feature selection.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95360" y="2093976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✓ Handles multicollinearity, automatic feature 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11247120" cy="7863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900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3. Random Forest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990088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Ensemble of decision trees with bagging.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990088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✓ Captures non-linearity, robust to outliers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31336"/>
            <a:ext cx="11247120" cy="7863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4. Gradient Boosting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886200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Sequential tree building with boosting.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8862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✓ High accuracy, handles complex interactions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27448"/>
            <a:ext cx="11247120" cy="7863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78231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5. Support Vector Regression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782312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Kernel-based regression with epsilon-insensitive loss.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4782312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✓ Effective in high dimensions, robust to outliers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623560"/>
            <a:ext cx="11247120" cy="7863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6784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6. Neural Network (MLP)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5678424"/>
            <a:ext cx="4480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Multi-layer perceptron with early stopping.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5678424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✓ Captures complex non-linear relationships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800" dirty="0"/>
          </a:p>
        </p:txBody>
      </p:sp>
      <p:pic>
        <p:nvPicPr>
          <p:cNvPr id="3" name="Image 0" descr="/home/claude/pptx_build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05840"/>
            <a:ext cx="10607040" cy="5394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2377440"/>
        </p:xfrm>
        <a:graphic>
          <a:graphicData uri="http://schemas.openxmlformats.org/drawingml/2006/table">
            <a:tbl>
              <a:tblPr/>
              <a:tblGrid>
                <a:gridCol w="3200400"/>
                <a:gridCol w="1609344"/>
                <a:gridCol w="1609344"/>
                <a:gridCol w="1609344"/>
                <a:gridCol w="1609344"/>
                <a:gridCol w="1609344"/>
              </a:tblGrid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Train R²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 R²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 RMSE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 MAE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CV RMSE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0.9558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0.4955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0.7410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0.1871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0.3087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Linear Regression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0.5571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0.4913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0.7440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0.2973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0.3324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Support Vector Regression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0.8082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0.4641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0.7637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0.2461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0.3439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Gradient Boosting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0.9929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0.4498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0.7737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0.1866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0.2992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Elastic Net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0.5388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0.4376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0.7823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0.2847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0.3303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Neural Network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0.2868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0.3745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0.8250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0.3501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0.3442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94760"/>
            <a:ext cx="11247120" cy="685800"/>
          </a:xfrm>
          <a:prstGeom prst="rect">
            <a:avLst/>
          </a:prstGeom>
          <a:solidFill>
            <a:srgbClr val="FBEFE3"/>
          </a:solidFill>
          <a:ln w="12700">
            <a:solidFill>
              <a:srgbClr val="D97B2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886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B29"/>
                </a:solidFill>
              </a:rPr>
              <a:t>★ Best Model:  </a:t>
            </a:r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Random Forest  |  Test R² = 0.4955  |  RMSE = 0.7410  |  MAE = 0.1871</a:t>
            </a:r>
            <a:endParaRPr lang="en-US" sz="1500" dirty="0"/>
          </a:p>
        </p:txBody>
      </p:sp>
      <p:pic>
        <p:nvPicPr>
          <p:cNvPr id="6" name="Image 0" descr="/home/claude/pptx_build/fig7_best_model_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4617720"/>
            <a:ext cx="2119791" cy="1965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709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Random Forest achieves the best held-out performance, narrowly ahead of Linear Regression — both explain roughly half the variance using only production, technology, and temporal information.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– Feature Importance</a:t>
            </a:r>
            <a:endParaRPr lang="en-US" sz="2800" dirty="0"/>
          </a:p>
        </p:txBody>
      </p:sp>
      <p:pic>
        <p:nvPicPr>
          <p:cNvPr id="3" name="Image 0" descr="/home/claude/pptx_build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42702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Log_Production (0.355) and Production (0.259) together explain ~61% of Random Forest importance — production scale is the dominant driver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Facility_Avg_Production (0.184) — a facility's production history matters, without needing to know which facility it is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Extraction Technology and interaction terms contribute smaller, secondary effects (~7% combined)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Statistical Insights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Best model explains 49.6% of variance in emissions intensity (Test R² = 0.496)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Average prediction error: 0.187 tonnes CO2e/m³ (Test MAE)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Emission intensity range: 0.184 – 7.433 tonnes CO2e/m³ (40× variation)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344 facility-year records analyzed, 2011–2023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Key Drivers of Emissions Intensity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087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Production scale (~61%): larger operations are systematically more efficient — economies of scale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Facility production history (~18%): experienced, historically high-output facilities perform better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Extraction technology (~7%): SAGD, CSS, NFT, PFT differ meaningfully but secondarily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114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Operational Implications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262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Focus emissions-reduction efforts on: (1) production-process optimization at scale, (2) sharing best practices from historically high-performing facilities, and (3) targeted evaluation of extraction technology upgrades where scale gains have been exhausted.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Diagnostics &amp;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</a:rPr>
              <a:t>Overfitting Analysis (Train R² − Test R²)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⚠"/>
            </a:pPr>
            <a:r>
              <a:rPr lang="en-US" sz="1250" dirty="0">
                <a:solidFill>
                  <a:srgbClr val="222222"/>
                </a:solidFill>
              </a:rPr>
              <a:t>Gradient Boosting: gap = 0.543  (severe)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⚠"/>
            </a:pPr>
            <a:r>
              <a:rPr lang="en-US" sz="1250" dirty="0">
                <a:solidFill>
                  <a:srgbClr val="222222"/>
                </a:solidFill>
              </a:rPr>
              <a:t>Random Forest: gap = 0.460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⚠"/>
            </a:pPr>
            <a:r>
              <a:rPr lang="en-US" sz="1250" dirty="0">
                <a:solidFill>
                  <a:srgbClr val="222222"/>
                </a:solidFill>
              </a:rPr>
              <a:t>Support Vector Regression: gap = 0.344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⚠"/>
            </a:pPr>
            <a:r>
              <a:rPr lang="en-US" sz="1250" dirty="0">
                <a:solidFill>
                  <a:srgbClr val="222222"/>
                </a:solidFill>
              </a:rPr>
              <a:t>Elastic Net: gap = 0.101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⚠"/>
            </a:pPr>
            <a:r>
              <a:rPr lang="en-US" sz="1250" dirty="0">
                <a:solidFill>
                  <a:srgbClr val="222222"/>
                </a:solidFill>
              </a:rPr>
              <a:t>Linear Regression: gap = 0.066  (smallest)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32"/>
                </a:solidFill>
              </a:rPr>
              <a:t>Why Random Forest Won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087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Best test-set performance (Test R² = 0.4955)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Lowest test RMSE (0.7410) among all six models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Narrowly ahead of Linear Regression despite a larger train-test gap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Captures non-linear interactions among production, technology, and time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114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Model Limitations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805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All models show some overfitting (train performance exceeds test performance)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Roughly half of the variance in emission intensity remains unexplained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Missing variables: equipment age, maintenance schedule, energy source mix, carbon capture rates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Facility-year records are treated as independent; no panel/time-series structure is exploited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66160" cy="5029200"/>
          </a:xfrm>
          <a:prstGeom prst="roundRect">
            <a:avLst>
              <a:gd name="adj" fmla="val 1538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3566160" cy="5943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Immediate Actions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108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Use Random Forest predictions for facility benchmarking, not automated deployment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Flag facilities whose predicted intensity is far below their actual intensity for review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Report R² and RMSE together with the feature set used, to keep results reproducible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234440"/>
            <a:ext cx="3566160" cy="5029200"/>
          </a:xfrm>
          <a:prstGeom prst="roundRect">
            <a:avLst>
              <a:gd name="adj" fmla="val 1538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1234440"/>
            <a:ext cx="3566160" cy="594360"/>
          </a:xfrm>
          <a:prstGeom prst="rect">
            <a:avLst/>
          </a:prstGeom>
          <a:solidFill>
            <a:srgbClr val="D97B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234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 Improvements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3108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Prioritize production-process optimization at scale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Benchmark high- vs. low-intensity facilities within the same technology group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Share best practices from historically efficient, high-production facilities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234440"/>
            <a:ext cx="3566160" cy="5029200"/>
          </a:xfrm>
          <a:prstGeom prst="roundRect">
            <a:avLst>
              <a:gd name="adj" fmla="val 1538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1234440"/>
            <a:ext cx="356616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1234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Model Enhancements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011680"/>
            <a:ext cx="3108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Collect equipment specs, maintenance records, energy source, and CCS deployment data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Apply panel-data methods (fixed/random effects) to exploit repeated facility-year structure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Re-test facility identity only via random-effects terms, not as a raw leakage-prone predictor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Note: Correcting Target Leakage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The issue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Emission_Intensity = Cogen_Adjusted_Emission ÷ Production. An earlier draft included Cogen_Adjusted_Emission (and its log transform) directly as model features. Because these are mathematically entangled with the target's numerator, the resulting R² = 0.681 did not reflect genuine predictive skill. A later draft removed those features but used raw Facility identity as a label-encoded predictor; with 32 facilities and 344 rows, tree models memorized per-facility averages rather than learning generalizable drivers, producing near-zero or negative test R² (0.058 best case).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46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The fix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1188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22222"/>
                </a:solidFill>
              </a:rPr>
              <a:t>Removed all emissions-derived features (Cogen_Adjusted_Emission, Log_Emission, and any emission/production ratio)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22222"/>
                </a:solidFill>
              </a:rPr>
              <a:t>Replaced raw Facility identity with facility-level historical aggregates (avg. production, years operating) — informative without being an identity key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222222"/>
                </a:solidFill>
              </a:rPr>
              <a:t>Retained production volume, technology, subsector, product, and temporal features as legitimate predictors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5394960"/>
            <a:ext cx="11247120" cy="960120"/>
          </a:xfrm>
          <a:prstGeom prst="rect">
            <a:avLst/>
          </a:prstGeom>
          <a:solidFill>
            <a:srgbClr val="E8F1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5321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Result: Test R² = 0.4955 (Random Forest) — lower than the inflated 0.681, far better than the underpowered 0.058, and defensible under scrutiny.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Charpentier, A. D., Bergerson, J. A., &amp; MacLean, H. L. (2009). Understanding the Canadian oil sands industry's greenhouse gas emissions. Environmental Research Letters, 4(1), 014005.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Environment and Climate Change Canada. (2023). National inventory report: Greenhouse gas sources and sinks in Canada. Government of Canada.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Hastie, T., Tibshirani, R., &amp; Friedman, J. (2017). The elements of statistical learning: Data mining, inference, and prediction (2nd ed.). Springer.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National Pollutant Release Inventory. (2024). Facility-reported greenhouse gas emissions data. Government of Canada.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Alberta Energy Regulator. (2024). Oil sands operational and production data. Government of Alberta.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Alberta Energy Regulator. (n.d.). About the AER. https://www.aer.ca/about-aer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83464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4EE"/>
                </a:solidFill>
              </a:rPr>
              <a:t>Paul Moynihan  ·  Ifeanyi Njoku  ·  Anmol Sharma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2026-08-27T00:46:40Z</dcterms:created>
  <dcterms:modified xsi:type="dcterms:W3CDTF">2026-08-27T00:46:40Z</dcterms:modified>
</cp:coreProperties>
</file>